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0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80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5FD-46D5-B5DF-A3312C747D5C}"/>
              </c:ext>
            </c:extLst>
          </c:dPt>
          <c:dPt>
            <c:idx val="1"/>
            <c:bubble3D val="0"/>
            <c:spPr>
              <a:solidFill>
                <a:srgbClr val="1FB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5FD-46D5-B5DF-A3312C747D5C}"/>
              </c:ext>
            </c:extLst>
          </c:dPt>
          <c:dPt>
            <c:idx val="2"/>
            <c:bubble3D val="0"/>
            <c:spPr>
              <a:solidFill>
                <a:srgbClr val="E457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5FD-46D5-B5DF-A3312C747D5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5FD-46D5-B5DF-A3312C747D5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5FD-46D5-B5DF-A3312C747D5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5FD-46D5-B5DF-A3312C747D5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Research &amp; Development</c:v>
                </c:pt>
                <c:pt idx="1">
                  <c:v>Sales</c:v>
                </c:pt>
                <c:pt idx="2">
                  <c:v>Human Resources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133</c:v>
                </c:pt>
                <c:pt idx="1">
                  <c:v>92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5FD-46D5-B5DF-A3312C747D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5B6B7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Count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824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Human Resources</c:v>
                </c:pt>
                <c:pt idx="1">
                  <c:v>Other</c:v>
                </c:pt>
                <c:pt idx="2">
                  <c:v>Technical Degree</c:v>
                </c:pt>
                <c:pt idx="3">
                  <c:v>Marketing</c:v>
                </c:pt>
                <c:pt idx="4">
                  <c:v>Medical</c:v>
                </c:pt>
                <c:pt idx="5">
                  <c:v>Life Sciences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11</c:v>
                </c:pt>
                <c:pt idx="2">
                  <c:v>32</c:v>
                </c:pt>
                <c:pt idx="3">
                  <c:v>35</c:v>
                </c:pt>
                <c:pt idx="4">
                  <c:v>63</c:v>
                </c:pt>
                <c:pt idx="5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5D-4E1E-B873-75764B3FCC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8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DE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5F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8242E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8242E"/>
                </a:solidFill>
                <a:latin typeface="Arial"/>
              </a:rPr>
              <a:t>Employee Count by Age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 Count</c:v>
                </c:pt>
              </c:strCache>
            </c:strRef>
          </c:tx>
          <c:spPr>
            <a:solidFill>
              <a:srgbClr val="1FBFA8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18</c:v>
                </c:pt>
                <c:pt idx="1">
                  <c:v>22</c:v>
                </c:pt>
                <c:pt idx="2">
                  <c:v>26</c:v>
                </c:pt>
                <c:pt idx="3">
                  <c:v>30</c:v>
                </c:pt>
                <c:pt idx="4">
                  <c:v>34</c:v>
                </c:pt>
                <c:pt idx="5">
                  <c:v>38</c:v>
                </c:pt>
                <c:pt idx="6">
                  <c:v>42</c:v>
                </c:pt>
                <c:pt idx="7">
                  <c:v>46</c:v>
                </c:pt>
                <c:pt idx="8">
                  <c:v>50</c:v>
                </c:pt>
                <c:pt idx="9">
                  <c:v>54</c:v>
                </c:pt>
                <c:pt idx="10">
                  <c:v>58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17</c:v>
                </c:pt>
                <c:pt idx="1">
                  <c:v>30</c:v>
                </c:pt>
                <c:pt idx="2">
                  <c:v>87</c:v>
                </c:pt>
                <c:pt idx="3">
                  <c:v>129</c:v>
                </c:pt>
                <c:pt idx="4">
                  <c:v>155</c:v>
                </c:pt>
                <c:pt idx="5">
                  <c:v>100</c:v>
                </c:pt>
                <c:pt idx="6">
                  <c:v>78</c:v>
                </c:pt>
                <c:pt idx="7">
                  <c:v>57</c:v>
                </c:pt>
                <c:pt idx="8">
                  <c:v>49</c:v>
                </c:pt>
                <c:pt idx="9">
                  <c:v>37</c:v>
                </c:pt>
                <c:pt idx="10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15-4CC9-B47B-6C444E1453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5F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Count</c:v>
                </c:pt>
              </c:strCache>
            </c:strRef>
          </c:tx>
          <c:spPr>
            <a:solidFill>
              <a:srgbClr val="1FBF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AD7-4472-B230-D2B7017B94C3}"/>
              </c:ext>
            </c:extLst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AD7-4472-B230-D2B7017B94C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824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</c:v>
                </c:pt>
                <c:pt idx="1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AD7-4472-B230-D2B7017B94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8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5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274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ublic.tableau.com/views/GREENDESTINATIONHRDEPARTMENT/Dashboard1?:language=en-US&amp;publish=yes&amp;:sid=&amp;:redirect=auth&amp;:display_count=n&amp;:origin=viz_share_link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463040"/>
            <a:ext cx="3840480" cy="3840480"/>
          </a:xfrm>
          <a:prstGeom prst="ellipse">
            <a:avLst/>
          </a:prstGeom>
          <a:solidFill>
            <a:srgbClr val="1FBFA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FBFA8">
              <a:alpha val="8000"/>
            </a:srgbClr>
          </a:solidFill>
          <a:ln/>
        </p:spPr>
      </p:sp>
      <p:pic>
        <p:nvPicPr>
          <p:cNvPr id="4" name="Image 0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411480"/>
            <a:ext cx="1828800" cy="10789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DESTINATIONS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Employee Attrition Analysis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246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B9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Tableau-driven investigation into workforce turnover and its key drivers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4114800"/>
            <a:ext cx="6583680" cy="1965960"/>
          </a:xfrm>
          <a:prstGeom prst="roundRect">
            <a:avLst>
              <a:gd name="adj" fmla="val 4186"/>
            </a:avLst>
          </a:prstGeom>
          <a:solidFill>
            <a:srgbClr val="112943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2511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651760" y="42976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Arif Bin Mushtaq – </a:t>
            </a:r>
            <a:r>
              <a:rPr lang="en-US" sz="13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B.Sc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Hons Statistics </a:t>
            </a:r>
            <a:endParaRPr lang="en-US" sz="13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92861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49011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2651760" y="490118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loneasuu123@gmail.com,arifbinmushtaqq@stats.du.ac.in</a:t>
            </a:r>
            <a:endParaRPr lang="en-US" sz="13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532120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55046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2651760" y="55046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Ramanujan College, University of Delhi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463040"/>
            <a:ext cx="3840480" cy="3840480"/>
          </a:xfrm>
          <a:prstGeom prst="ellipse">
            <a:avLst/>
          </a:prstGeom>
          <a:solidFill>
            <a:srgbClr val="1FBFA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FBFA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1FBFA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6126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438912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12943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14173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Destinations is experiencing increased employee attrition.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HR DIRECTOR WANTS TO: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063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12943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3246120"/>
            <a:ext cx="411480" cy="411480"/>
          </a:xfrm>
          <a:prstGeom prst="ellipse">
            <a:avLst/>
          </a:prstGeom>
          <a:solidFill>
            <a:srgbClr val="1FBFA8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30632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attrition rate — The percentage of employees who have left.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8640" y="4023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12943"/>
          </a:solidFill>
          <a:ln/>
        </p:spPr>
      </p:sp>
      <p:sp>
        <p:nvSpPr>
          <p:cNvPr id="15" name="Shape 12"/>
          <p:cNvSpPr/>
          <p:nvPr/>
        </p:nvSpPr>
        <p:spPr>
          <a:xfrm>
            <a:off x="777240" y="4206240"/>
            <a:ext cx="411480" cy="411480"/>
          </a:xfrm>
          <a:prstGeom prst="ellipse">
            <a:avLst/>
          </a:prstGeom>
          <a:solidFill>
            <a:srgbClr val="1FBFA8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71600" y="40233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whether factors like age, years at the company, and income influence attrition.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FBFA8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68680" y="51663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r>
              <a:rPr lang="en-US" sz="1550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insights and predictive analysis to help reduce future attrition.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463040"/>
            <a:ext cx="3840480" cy="3840480"/>
          </a:xfrm>
          <a:prstGeom prst="ellipse">
            <a:avLst/>
          </a:prstGeom>
          <a:solidFill>
            <a:srgbClr val="1FBFA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FBFA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57800" cy="3291840"/>
          </a:xfrm>
          <a:prstGeom prst="roundRect">
            <a:avLst>
              <a:gd name="adj" fmla="val 2778"/>
            </a:avLst>
          </a:prstGeom>
          <a:solidFill>
            <a:srgbClr val="112943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57400"/>
            <a:ext cx="822960" cy="822960"/>
          </a:xfrm>
          <a:prstGeom prst="ellipse">
            <a:avLst/>
          </a:prstGeom>
          <a:solidFill>
            <a:srgbClr val="1FBFA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26771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063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36576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creation &amp; interactive visualization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1737360"/>
            <a:ext cx="5257800" cy="3291840"/>
          </a:xfrm>
          <a:prstGeom prst="roundRect">
            <a:avLst>
              <a:gd name="adj" fmla="val 2778"/>
            </a:avLst>
          </a:prstGeom>
          <a:solidFill>
            <a:srgbClr val="112943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057400"/>
            <a:ext cx="822960" cy="822960"/>
          </a:xfrm>
          <a:prstGeom prst="ellipse">
            <a:avLst/>
          </a:prstGeom>
          <a:solidFill>
            <a:srgbClr val="1FBFA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226771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37960" y="3063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537960" y="36576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wrangling, cleaning, and sourcing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used throughout this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6420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1FBFA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642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80360" y="1600200"/>
            <a:ext cx="8549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of employees over time — when people leave a company voluntarily or involuntarily and are not replaced. Also called employee turnover.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80360" y="2240280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2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resigns or retires and their role isn't filled, that's attrition.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26440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1FBFA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644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Attrition Count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80360" y="3200400"/>
            <a:ext cx="8549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employees who have left the organization during a given period.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80360" y="3840480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2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1,000 employees, if 200 have left, the attrition count is 200.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864608"/>
            <a:ext cx="1874520" cy="457200"/>
          </a:xfrm>
          <a:prstGeom prst="roundRect">
            <a:avLst>
              <a:gd name="adj" fmla="val 50000"/>
            </a:avLst>
          </a:prstGeom>
          <a:solidFill>
            <a:srgbClr val="1FBFA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8646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Attrition Rate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80360" y="4800600"/>
            <a:ext cx="8549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percentage of employees who have left, out of the total workforce.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880360" y="5440680"/>
            <a:ext cx="8549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2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total, 200 left → (200 / 1,000) × 100 = 20%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463040"/>
            <a:ext cx="3840480" cy="3840480"/>
          </a:xfrm>
          <a:prstGeom prst="ellipse">
            <a:avLst/>
          </a:prstGeom>
          <a:solidFill>
            <a:srgbClr val="1FBFA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FBFA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KPIs?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12943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3716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stands for Key Performance Indicator — a measurable value that shows how effectively an individual, team, or organization is achieving specific objectives.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MATTER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12943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490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4206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monitor performance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297680" y="35204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12943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7490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4206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decision-making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046720" y="352044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12943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7490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4206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teams with company goals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KPIs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metrics tracked in the Green Destination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640080" cy="640080"/>
          </a:xfrm>
          <a:prstGeom prst="ellipse">
            <a:avLst/>
          </a:prstGeom>
          <a:solidFill>
            <a:srgbClr val="1FBFA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508760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Education-wise Attrition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892808"/>
            <a:ext cx="640080" cy="640080"/>
          </a:xfrm>
          <a:prstGeom prst="ellipse">
            <a:avLst/>
          </a:prstGeom>
          <a:solidFill>
            <a:srgbClr val="1FBFA8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60920" y="1508760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Department-wise Attrition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630168"/>
            <a:ext cx="640080" cy="640080"/>
          </a:xfrm>
          <a:prstGeom prst="ellipse">
            <a:avLst/>
          </a:prstGeom>
          <a:solidFill>
            <a:srgbClr val="1FBFA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30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3246120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32461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3630168"/>
            <a:ext cx="640080" cy="640080"/>
          </a:xfrm>
          <a:prstGeom prst="ellipse">
            <a:avLst/>
          </a:prstGeom>
          <a:solidFill>
            <a:srgbClr val="1FBFA8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630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60920" y="3246120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Gender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5367528"/>
            <a:ext cx="640080" cy="640080"/>
          </a:xfrm>
          <a:prstGeom prst="ellipse">
            <a:avLst/>
          </a:prstGeom>
          <a:solidFill>
            <a:srgbClr val="1FBFA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367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45920" y="4983480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and Attrition Count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63640" y="498348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37960" y="5367528"/>
            <a:ext cx="640080" cy="640080"/>
          </a:xfrm>
          <a:prstGeom prst="ellipse">
            <a:avLst/>
          </a:prstGeom>
          <a:solidFill>
            <a:srgbClr val="1FBFA8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5367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60920" y="4983480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Count and Active Employees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463040"/>
            <a:ext cx="3840480" cy="3840480"/>
          </a:xfrm>
          <a:prstGeom prst="ellipse">
            <a:avLst/>
          </a:prstGeom>
          <a:solidFill>
            <a:srgbClr val="1FBFA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FBFA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Destination Dashboard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Tableau — live and interactive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7804" y="1618488"/>
            <a:ext cx="10753344" cy="4974785"/>
          </a:xfrm>
          <a:prstGeom prst="roundRect">
            <a:avLst>
              <a:gd name="adj" fmla="val 91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8" name="Image 0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1691640"/>
            <a:ext cx="10607040" cy="4828481"/>
          </a:xfrm>
          <a:prstGeom prst="rect">
            <a:avLst/>
          </a:prstGeom>
        </p:spPr>
      </p:pic>
      <p:sp>
        <p:nvSpPr>
          <p:cNvPr id="9" name="Text 6">
            <a:hlinkClick r:id="rId4"/>
          </p:cNvPr>
          <p:cNvSpPr/>
          <p:nvPr/>
        </p:nvSpPr>
        <p:spPr>
          <a:xfrm>
            <a:off x="548640" y="6703001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u="sng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live: public.tableau.com/views/GREENDESTINATIONHRDEPARTMENT/Dashboard1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Department-Wise Attrition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566928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737360"/>
            <a:ext cx="51663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96596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6092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Development (R&amp;D)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766560" y="251460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highest attrition count — 133 employees (56.1% of all departures).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92240" y="3886200"/>
            <a:ext cx="51663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11480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6092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Resources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766560" y="466344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lowest attrition count — just 12 employees (5.1% of all departures).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Education-Wise Attrition Rate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4922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600200"/>
            <a:ext cx="4343400" cy="45720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89520" y="1828800"/>
            <a:ext cx="3794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Sciences shows the highest attrition (89 employees).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(63) and Marketing (35) also show significant attrition — marketing's pressure and targets may explain the higher turnover.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Degree shows moderate attrition (32).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and Human Resources show the lowest attrition (11 and 7) — possibly smaller teams or higher satisfaction.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Job Satisfaction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28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80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Satisfaction (Level 4)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Executives (112) and R&amp;D staff (95) report the most top-tier satisfaction.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Technicians (80) and Healthcare Representatives (43) also show strong satisfaction.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976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42976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Satisfaction (Levels 1–2)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2960" y="4937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Exec: 69 at Level 1, 54 at Level 2.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R&amp;D: 54 at Level 1, 53 at Level 2 — the same two teams dominate both extremes.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00200"/>
          <a:ext cx="5349240" cy="22860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Satisfaction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0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0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8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8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8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8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8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8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8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8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6263640" y="39776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workforce: 1,470 across 9 job roles. Satisfaction is fairly evenly spread, with slightly more employees at the top (Level 4) than the bottom (Level 1).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Attrition by Age Group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5836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554480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43800" y="16642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80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Age Group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543800" y="199339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34 has the highest employee count (155) — the core of the workforce is early-to-mid 30s.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315200" y="2926080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30358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80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Phase (18–34)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543800" y="336499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rises steadily from 17 (age 18) to 155 (age 34), indicating active hiring/retention of younger staff.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0" y="4297680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543800" y="44074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80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Decline Phase (35+)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543800" y="473659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drop from 155 (age 34) to 5 (age 60) — consistent with retirement and natural attrition.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Attrition by Gender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6751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2103120"/>
            <a:ext cx="4160520" cy="3566160"/>
          </a:xfrm>
          <a:prstGeom prst="roundRect">
            <a:avLst>
              <a:gd name="adj" fmla="val 2308"/>
            </a:avLst>
          </a:prstGeom>
          <a:solidFill>
            <a:srgbClr val="0A1B2E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42316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18120" y="306324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6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male employees left the company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FB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en-US" sz="3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female employees left the company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463040"/>
            <a:ext cx="3840480" cy="3840480"/>
          </a:xfrm>
          <a:prstGeom prst="ellipse">
            <a:avLst/>
          </a:prstGeom>
          <a:solidFill>
            <a:srgbClr val="1FBFA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FBFA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· KPI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112943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874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B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Count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112943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874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B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237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566160" y="2651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112943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874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B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16.12%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400800" y="2651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52560" y="1600200"/>
            <a:ext cx="2606040" cy="1828800"/>
          </a:xfrm>
          <a:prstGeom prst="roundRect">
            <a:avLst>
              <a:gd name="adj" fmla="val 4500"/>
            </a:avLst>
          </a:prstGeom>
          <a:solidFill>
            <a:srgbClr val="112943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35440" y="1874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B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1,233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235440" y="2651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Employees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112943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23360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71600" y="379476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Insight: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1,470 employees, 237 have left, resulting in an attrition rate of 16.12%, leaving 1,233 active employees.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FBFA8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166360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371600" y="4892040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 </a:t>
            </a:r>
            <a:r>
              <a:rPr lang="en-US" sz="1350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retention strategies such as employee engagement programs and career development initiatives, especially in departments or age groups showing higher attrition.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463040"/>
            <a:ext cx="3840480" cy="3840480"/>
          </a:xfrm>
          <a:prstGeom prst="ellipse">
            <a:avLst/>
          </a:prstGeom>
          <a:solidFill>
            <a:srgbClr val="1FBFA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FBFA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Metrics — Insights &amp; Actions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1294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males are leaving than females — possible gender-based engagement or satisfaction differences.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0" cy="822960"/>
          </a:xfrm>
          <a:prstGeom prst="line">
            <a:avLst/>
          </a:prstGeom>
          <a:noFill/>
          <a:ln w="12700">
            <a:solidFill>
              <a:srgbClr val="2A4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645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1874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exit interviews or surveys focused on gender-related concerns.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1294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529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08152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the workforce is aged 28–36 — a relatively young, mid-career employee base.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2898648"/>
            <a:ext cx="0" cy="822960"/>
          </a:xfrm>
          <a:prstGeom prst="line">
            <a:avLst/>
          </a:prstGeom>
          <a:noFill/>
          <a:ln w="12700">
            <a:solidFill>
              <a:srgbClr val="2A42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8529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308152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retention strategies and career development on this age group.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68496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1294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0599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28853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Life Sciences &amp; Medical backgrounds are more likely to leave.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0760" y="4105656"/>
            <a:ext cx="0" cy="822960"/>
          </a:xfrm>
          <a:prstGeom prst="line">
            <a:avLst/>
          </a:prstGeom>
          <a:noFill/>
          <a:ln w="12700">
            <a:solidFill>
              <a:srgbClr val="2A42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40599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428853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job satisfaction, pay parity, and growth paths in these fields.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175504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12943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2669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49554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shows alarmingly high attrition — possible stress, weak incentives, or poor work-life balance.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80760" y="5312664"/>
            <a:ext cx="0" cy="822960"/>
          </a:xfrm>
          <a:prstGeom prst="line">
            <a:avLst/>
          </a:prstGeom>
          <a:noFill/>
          <a:ln w="12700">
            <a:solidFill>
              <a:srgbClr val="2A42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52669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549554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sales targets, commissions, support systems, and wellness programs.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8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Data-Driven Decisions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0020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3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females and mid-career males are at the highest risk of leaving; older employees tend to stay longer.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r>
              <a:rPr lang="en-US" sz="13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flexible work, mentorship, and promotion paths for early-career women; address burnout and stagnation among mid-career men.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3291840"/>
            <a:ext cx="10424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retention in the Sales department — redesign KPIs, improve support.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HR strategies by gender and age group (mentorship for young women, career mobility for mid-career men).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employee engagement programs to Life Sciences and Medical degree holders.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satisfaction in high-attrition roles, especially Sales and Healthcare.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and replicate practices from R&amp;D and HR, where attrition is lowest.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206240" cy="4206240"/>
          </a:xfrm>
          <a:prstGeom prst="ellipse">
            <a:avLst/>
          </a:prstGeom>
          <a:solidFill>
            <a:srgbClr val="1FBFA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663440"/>
            <a:ext cx="3291840" cy="3291840"/>
          </a:xfrm>
          <a:prstGeom prst="ellipse">
            <a:avLst/>
          </a:prstGeom>
          <a:solidFill>
            <a:srgbClr val="1FBFA8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8346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Destinations — HR Employee Attrition Analysis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Arif Bin Mushtaq  ·  Ramanujan College, University of Delhi  ·  loneasuu123@gmail.com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1065</Words>
  <Application>Microsoft Office PowerPoint</Application>
  <PresentationFormat>Widescreen</PresentationFormat>
  <Paragraphs>164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Destination — HR Attrition Project</dc:title>
  <dc:subject>PptxGenJS Presentation</dc:subject>
  <dc:creator>Arif Bin Mushtaq</dc:creator>
  <cp:lastModifiedBy>Arif bin Mushtaq</cp:lastModifiedBy>
  <cp:revision>2</cp:revision>
  <dcterms:created xsi:type="dcterms:W3CDTF">2026-07-08T08:36:57Z</dcterms:created>
  <dcterms:modified xsi:type="dcterms:W3CDTF">2026-07-08T08:52:39Z</dcterms:modified>
</cp:coreProperties>
</file>